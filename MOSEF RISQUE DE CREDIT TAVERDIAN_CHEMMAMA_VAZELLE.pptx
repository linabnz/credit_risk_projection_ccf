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layfair Displ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L59zgP7PkbqPHKFTIj2DRmaGR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587725-6B6E-47DF-8DBA-BF5FD4FD8129}">
  <a:tblStyle styleId="{F0587725-6B6E-47DF-8DBA-BF5FD4FD81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5DCD661-772E-4673-AAB4-419A523172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fairDis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Lato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c9462a2cb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5c9462a2cb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5c9462a2cb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c9462a2cb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5c9462a2c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5c9462a2cb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c9462a2cb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5c9462a2c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5c9462a2cb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c9462a2cb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5c9462a2cb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5c9462a2cb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9462a2cb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5c9462a2cb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5c9462a2cb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c9462a2cb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5c9462a2cb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5c9462a2cb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Rq : Altares prévoit lui 55 000 défaillance en 2023</a:t>
            </a:r>
            <a:endParaRPr/>
          </a:p>
        </p:txBody>
      </p:sp>
      <p:sp>
        <p:nvSpPr>
          <p:cNvPr id="179" name="Google Shape;1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24541a552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224541a552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fr-FR" sz="1100">
                <a:latin typeface="Arial"/>
                <a:ea typeface="Arial"/>
                <a:cs typeface="Arial"/>
                <a:sym typeface="Arial"/>
              </a:rPr>
              <a:t>pénlisation pour éviter trop d’overfitting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224541a552_0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817179f40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2817179f40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2817179f40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cf1504f34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cf1504f34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TIV et WM Vol bien réparti</a:t>
            </a:r>
            <a:endParaRPr/>
          </a:p>
        </p:txBody>
      </p:sp>
      <p:sp>
        <p:nvSpPr>
          <p:cNvPr id="232" name="Google Shape;232;g35cf1504f34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cf1504f34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5cf1504f34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TIV et WM Vol bien réparti</a:t>
            </a:r>
            <a:endParaRPr/>
          </a:p>
        </p:txBody>
      </p:sp>
      <p:sp>
        <p:nvSpPr>
          <p:cNvPr id="244" name="Google Shape;244;g35cf1504f34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cf1504f34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5cf1504f34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TIV et WM Vol bien réparti</a:t>
            </a:r>
            <a:endParaRPr/>
          </a:p>
        </p:txBody>
      </p:sp>
      <p:sp>
        <p:nvSpPr>
          <p:cNvPr id="260" name="Google Shape;260;g35cf1504f34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df5e1f890_1_4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5df5e1f890_1_4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cf1504f34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5cf1504f34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TIV et WM Vol bien réparti</a:t>
            </a:r>
            <a:endParaRPr/>
          </a:p>
        </p:txBody>
      </p:sp>
      <p:sp>
        <p:nvSpPr>
          <p:cNvPr id="302" name="Google Shape;302;g35cf1504f34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cf1504f34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5cf1504f34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TIV et WM Vol bien réparti</a:t>
            </a:r>
            <a:endParaRPr/>
          </a:p>
        </p:txBody>
      </p:sp>
      <p:sp>
        <p:nvSpPr>
          <p:cNvPr id="314" name="Google Shape;314;g35cf1504f34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df5e1f890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5df5e1f890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TIV et WM Vol bien réparti</a:t>
            </a:r>
            <a:endParaRPr/>
          </a:p>
        </p:txBody>
      </p:sp>
      <p:sp>
        <p:nvSpPr>
          <p:cNvPr id="326" name="Google Shape;326;g35df5e1f890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df5e1f890_1_379"/>
          <p:cNvSpPr/>
          <p:nvPr/>
        </p:nvSpPr>
        <p:spPr>
          <a:xfrm>
            <a:off x="3665400" y="998400"/>
            <a:ext cx="4861200" cy="48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5df5e1f890_1_379"/>
          <p:cNvSpPr/>
          <p:nvPr/>
        </p:nvSpPr>
        <p:spPr>
          <a:xfrm>
            <a:off x="3990600" y="1323600"/>
            <a:ext cx="4210800" cy="4210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5df5e1f890_1_379"/>
          <p:cNvSpPr txBox="1"/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g35df5e1f890_1_379"/>
          <p:cNvSpPr txBox="1"/>
          <p:nvPr>
            <p:ph idx="1" type="subTitle"/>
          </p:nvPr>
        </p:nvSpPr>
        <p:spPr>
          <a:xfrm>
            <a:off x="4128483" y="4355907"/>
            <a:ext cx="3935100" cy="935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g35df5e1f890_1_379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df5e1f890_1_385"/>
          <p:cNvSpPr txBox="1"/>
          <p:nvPr>
            <p:ph type="title"/>
          </p:nvPr>
        </p:nvSpPr>
        <p:spPr>
          <a:xfrm>
            <a:off x="679400" y="1898500"/>
            <a:ext cx="10833300" cy="2397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g35df5e1f890_1_38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5df5e1f890_1_388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5df5e1f890_1_388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5" name="Google Shape;25;g35df5e1f890_1_38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6" name="Google Shape;26;g35df5e1f890_1_38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5df5e1f890_1_393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9" name="Google Shape;29;g35df5e1f890_1_393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g35df5e1f890_1_393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5df5e1f890_1_39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df5e1f890_1_398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4" name="Google Shape;34;g35df5e1f890_1_39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5df5e1f890_1_401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7" name="Google Shape;37;g35df5e1f890_1_401"/>
          <p:cNvSpPr txBox="1"/>
          <p:nvPr>
            <p:ph idx="1" type="body"/>
          </p:nvPr>
        </p:nvSpPr>
        <p:spPr>
          <a:xfrm>
            <a:off x="415600" y="185517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g35df5e1f890_1_40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df5e1f890_1_405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" name="Google Shape;41;g35df5e1f890_1_40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5df5e1f890_1_408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5df5e1f890_1_408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5df5e1f890_1_408"/>
          <p:cNvSpPr txBox="1"/>
          <p:nvPr>
            <p:ph type="title"/>
          </p:nvPr>
        </p:nvSpPr>
        <p:spPr>
          <a:xfrm>
            <a:off x="354000" y="1477267"/>
            <a:ext cx="5393700" cy="2244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6" name="Google Shape;46;g35df5e1f890_1_408"/>
          <p:cNvSpPr txBox="1"/>
          <p:nvPr>
            <p:ph idx="1" type="subTitle"/>
          </p:nvPr>
        </p:nvSpPr>
        <p:spPr>
          <a:xfrm>
            <a:off x="354000" y="37936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g35df5e1f890_1_408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g35df5e1f890_1_40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5df5e1f890_1_415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1" name="Google Shape;51;g35df5e1f890_1_41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df5e1f890_1_418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5df5e1f890_1_418"/>
          <p:cNvSpPr txBox="1"/>
          <p:nvPr>
            <p:ph hasCustomPrompt="1" type="title"/>
          </p:nvPr>
        </p:nvSpPr>
        <p:spPr>
          <a:xfrm>
            <a:off x="415600" y="1644133"/>
            <a:ext cx="11360700" cy="214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5df5e1f890_1_418"/>
          <p:cNvSpPr txBox="1"/>
          <p:nvPr>
            <p:ph idx="1" type="body"/>
          </p:nvPr>
        </p:nvSpPr>
        <p:spPr>
          <a:xfrm>
            <a:off x="415600" y="3892600"/>
            <a:ext cx="113607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6" name="Google Shape;56;g35df5e1f890_1_41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f5e1f890_1_42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mage">
  <p:cSld name="Title + imag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df5e1f890_1_425"/>
          <p:cNvSpPr/>
          <p:nvPr>
            <p:ph idx="2" type="pic"/>
          </p:nvPr>
        </p:nvSpPr>
        <p:spPr>
          <a:xfrm>
            <a:off x="5335200" y="2"/>
            <a:ext cx="6858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1" name="Google Shape;61;g35df5e1f890_1_425"/>
          <p:cNvSpPr txBox="1"/>
          <p:nvPr>
            <p:ph type="ctrTitle"/>
          </p:nvPr>
        </p:nvSpPr>
        <p:spPr>
          <a:xfrm>
            <a:off x="478800" y="1836000"/>
            <a:ext cx="4680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16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5df5e1f890_1_425"/>
          <p:cNvSpPr txBox="1"/>
          <p:nvPr>
            <p:ph idx="1" type="subTitle"/>
          </p:nvPr>
        </p:nvSpPr>
        <p:spPr>
          <a:xfrm>
            <a:off x="478800" y="4788000"/>
            <a:ext cx="4680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16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7"/>
              <a:buNone/>
              <a:defRPr sz="211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5"/>
              <a:buNone/>
              <a:defRPr sz="190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3"/>
              <a:buNone/>
              <a:defRPr sz="169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3"/>
              <a:buNone/>
              <a:defRPr sz="1693"/>
            </a:lvl5pPr>
            <a:lvl6pPr lvl="5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93"/>
              <a:buNone/>
              <a:defRPr sz="1693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693"/>
              <a:buNone/>
              <a:defRPr sz="1693"/>
            </a:lvl7pPr>
            <a:lvl8pPr lvl="7" algn="ctr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693"/>
              <a:buNone/>
              <a:defRPr sz="1693"/>
            </a:lvl8pPr>
            <a:lvl9pPr lvl="8" algn="ctr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693"/>
              <a:buNone/>
              <a:defRPr sz="1693"/>
            </a:lvl9pPr>
          </a:lstStyle>
          <a:p/>
        </p:txBody>
      </p:sp>
      <p:pic>
        <p:nvPicPr>
          <p:cNvPr id="63" name="Google Shape;63;g35df5e1f890_1_4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9425" y="476250"/>
            <a:ext cx="2057310" cy="50927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5df5e1f890_1_425"/>
          <p:cNvSpPr txBox="1"/>
          <p:nvPr>
            <p:ph idx="3" type="body"/>
          </p:nvPr>
        </p:nvSpPr>
        <p:spPr>
          <a:xfrm>
            <a:off x="478800" y="5968800"/>
            <a:ext cx="1692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228600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g35df5e1f890_1_425"/>
          <p:cNvSpPr txBox="1"/>
          <p:nvPr>
            <p:ph idx="4" type="body"/>
          </p:nvPr>
        </p:nvSpPr>
        <p:spPr>
          <a:xfrm>
            <a:off x="2387600" y="5968800"/>
            <a:ext cx="1692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228600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5df5e1f890_1_425"/>
          <p:cNvSpPr txBox="1"/>
          <p:nvPr>
            <p:ph idx="5" type="body"/>
          </p:nvPr>
        </p:nvSpPr>
        <p:spPr>
          <a:xfrm rot="-5400000">
            <a:off x="11016000" y="5772158"/>
            <a:ext cx="1281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No topline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df5e1f890_1_433"/>
          <p:cNvSpPr txBox="1"/>
          <p:nvPr>
            <p:ph type="title"/>
          </p:nvPr>
        </p:nvSpPr>
        <p:spPr>
          <a:xfrm>
            <a:off x="479427" y="489296"/>
            <a:ext cx="93249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5df5e1f890_1_433"/>
          <p:cNvSpPr txBox="1"/>
          <p:nvPr>
            <p:ph idx="1" type="body"/>
          </p:nvPr>
        </p:nvSpPr>
        <p:spPr>
          <a:xfrm>
            <a:off x="479424" y="1376363"/>
            <a:ext cx="112332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228600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g35df5e1f890_1_433"/>
          <p:cNvSpPr txBox="1"/>
          <p:nvPr>
            <p:ph idx="12" type="sldNum"/>
          </p:nvPr>
        </p:nvSpPr>
        <p:spPr>
          <a:xfrm>
            <a:off x="11443580" y="6372000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1" name="Google Shape;71;g35df5e1f890_1_433"/>
          <p:cNvSpPr txBox="1"/>
          <p:nvPr>
            <p:ph idx="11" type="ftr"/>
          </p:nvPr>
        </p:nvSpPr>
        <p:spPr>
          <a:xfrm>
            <a:off x="479426" y="6165850"/>
            <a:ext cx="9324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6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">
  <p:cSld name="2 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df5e1f890_1_438"/>
          <p:cNvSpPr txBox="1"/>
          <p:nvPr>
            <p:ph type="title"/>
          </p:nvPr>
        </p:nvSpPr>
        <p:spPr>
          <a:xfrm>
            <a:off x="479427" y="875309"/>
            <a:ext cx="93249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5df5e1f890_1_438"/>
          <p:cNvSpPr txBox="1"/>
          <p:nvPr>
            <p:ph idx="1" type="body"/>
          </p:nvPr>
        </p:nvSpPr>
        <p:spPr>
          <a:xfrm>
            <a:off x="479424" y="1808163"/>
            <a:ext cx="5508600" cy="43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5df5e1f890_1_438"/>
          <p:cNvSpPr txBox="1"/>
          <p:nvPr>
            <p:ph idx="2" type="body"/>
          </p:nvPr>
        </p:nvSpPr>
        <p:spPr>
          <a:xfrm>
            <a:off x="6203950" y="1808163"/>
            <a:ext cx="5508600" cy="43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5df5e1f890_1_438"/>
          <p:cNvSpPr txBox="1"/>
          <p:nvPr>
            <p:ph idx="11" type="ftr"/>
          </p:nvPr>
        </p:nvSpPr>
        <p:spPr>
          <a:xfrm>
            <a:off x="479426" y="6165850"/>
            <a:ext cx="9324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5df5e1f890_1_438"/>
          <p:cNvSpPr txBox="1"/>
          <p:nvPr>
            <p:ph idx="12" type="sldNum"/>
          </p:nvPr>
        </p:nvSpPr>
        <p:spPr>
          <a:xfrm>
            <a:off x="11443580" y="6372000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8" name="Google Shape;78;g35df5e1f890_1_438"/>
          <p:cNvSpPr txBox="1"/>
          <p:nvPr>
            <p:ph idx="3" type="body"/>
          </p:nvPr>
        </p:nvSpPr>
        <p:spPr>
          <a:xfrm>
            <a:off x="479424" y="476250"/>
            <a:ext cx="93249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228600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df5e1f890_1_375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" name="Google Shape;11;g35df5e1f890_1_37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5df5e1f890_1_37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4F4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ctrTitle"/>
          </p:nvPr>
        </p:nvSpPr>
        <p:spPr>
          <a:xfrm>
            <a:off x="3026650" y="2141725"/>
            <a:ext cx="63546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1600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fr-FR" sz="5000"/>
              <a:t>Introduire le Forward looking dans l’EAD </a:t>
            </a:r>
            <a:endParaRPr b="1" sz="5000">
              <a:solidFill>
                <a:srgbClr val="E69138"/>
              </a:solidFill>
            </a:endParaRPr>
          </a:p>
        </p:txBody>
      </p:sp>
      <p:sp>
        <p:nvSpPr>
          <p:cNvPr id="84" name="Google Shape;84;p1"/>
          <p:cNvSpPr txBox="1"/>
          <p:nvPr>
            <p:ph idx="3" type="body"/>
          </p:nvPr>
        </p:nvSpPr>
        <p:spPr>
          <a:xfrm>
            <a:off x="836975" y="4542028"/>
            <a:ext cx="3527100" cy="201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Tarverdian Mariam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Chemmama Sharon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Vazelle Lucas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Lina Benzemma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5" type="body"/>
          </p:nvPr>
        </p:nvSpPr>
        <p:spPr>
          <a:xfrm rot="-5400000">
            <a:off x="11016000" y="5772158"/>
            <a:ext cx="1281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fr-FR"/>
              <a:t>© Allianz 2021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412575" y="374325"/>
            <a:ext cx="2650200" cy="710400"/>
          </a:xfrm>
          <a:prstGeom prst="rect">
            <a:avLst/>
          </a:prstGeom>
          <a:solidFill>
            <a:srgbClr val="FFF4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rgbClr val="FFF4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>
            <p:ph idx="3" type="body"/>
          </p:nvPr>
        </p:nvSpPr>
        <p:spPr>
          <a:xfrm>
            <a:off x="836974" y="344150"/>
            <a:ext cx="35271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Projet Risque de crédit 2024 - 2025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 txBox="1"/>
          <p:nvPr>
            <p:ph idx="3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rgbClr val="FFF4F4"/>
          </a:solidFill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c9462a2cb_0_51"/>
          <p:cNvSpPr txBox="1"/>
          <p:nvPr>
            <p:ph type="title"/>
          </p:nvPr>
        </p:nvSpPr>
        <p:spPr>
          <a:xfrm>
            <a:off x="393700" y="414263"/>
            <a:ext cx="100404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800"/>
              <a:buFont typeface="Arial"/>
              <a:buNone/>
            </a:pPr>
            <a:r>
              <a:rPr lang="fr-FR"/>
              <a:t>Stratégie de modélisation de l’</a:t>
            </a:r>
            <a:r>
              <a:rPr lang="fr-FR">
                <a:solidFill>
                  <a:srgbClr val="FF9900"/>
                </a:solidFill>
              </a:rPr>
              <a:t>EAD hors bilan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97" name="Google Shape;97;g35c9462a2cb_0_51"/>
          <p:cNvSpPr txBox="1"/>
          <p:nvPr>
            <p:ph idx="12" type="sldNum"/>
          </p:nvPr>
        </p:nvSpPr>
        <p:spPr>
          <a:xfrm>
            <a:off x="11671859" y="6499455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781"/>
              </a:buClr>
              <a:buSzPts val="800"/>
              <a:buFont typeface="Arial"/>
              <a:buNone/>
            </a:pPr>
            <a:fld id="{00000000-1234-1234-1234-123412341234}" type="slidenum">
              <a:rPr b="1" i="0" lang="fr-FR" sz="800" u="none" cap="none" strike="noStrike">
                <a:solidFill>
                  <a:srgbClr val="00378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5c9462a2cb_0_51"/>
          <p:cNvSpPr txBox="1"/>
          <p:nvPr/>
        </p:nvSpPr>
        <p:spPr>
          <a:xfrm>
            <a:off x="977365" y="4768171"/>
            <a:ext cx="552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5c9462a2cb_0_51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5c9462a2cb_0_51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5c9462a2cb_0_51"/>
          <p:cNvSpPr txBox="1"/>
          <p:nvPr>
            <p:ph idx="1" type="body"/>
          </p:nvPr>
        </p:nvSpPr>
        <p:spPr>
          <a:xfrm>
            <a:off x="8413849" y="26490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02" name="Google Shape;102;g35c9462a2cb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8138" y="1610063"/>
            <a:ext cx="541972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5c9462a2cb_0_51"/>
          <p:cNvSpPr/>
          <p:nvPr/>
        </p:nvSpPr>
        <p:spPr>
          <a:xfrm>
            <a:off x="524650" y="1659650"/>
            <a:ext cx="5923500" cy="1622100"/>
          </a:xfrm>
          <a:prstGeom prst="rect">
            <a:avLst/>
          </a:prstGeom>
          <a:noFill/>
          <a:ln cap="flat" cmpd="sng" w="9525">
            <a:solidFill>
              <a:srgbClr val="122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5c9462a2cb_0_51"/>
          <p:cNvSpPr/>
          <p:nvPr/>
        </p:nvSpPr>
        <p:spPr>
          <a:xfrm>
            <a:off x="393700" y="4352400"/>
            <a:ext cx="5923500" cy="1622100"/>
          </a:xfrm>
          <a:prstGeom prst="rect">
            <a:avLst/>
          </a:prstGeom>
          <a:noFill/>
          <a:ln cap="flat" cmpd="sng" w="9525">
            <a:solidFill>
              <a:srgbClr val="122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5c9462a2cb_0_51"/>
          <p:cNvSpPr txBox="1"/>
          <p:nvPr/>
        </p:nvSpPr>
        <p:spPr>
          <a:xfrm>
            <a:off x="393700" y="1696625"/>
            <a:ext cx="61488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122B54"/>
              </a:buClr>
              <a:buSzPts val="1900"/>
              <a:buChar char="●"/>
            </a:pPr>
            <a:r>
              <a:rPr lang="fr-FR" sz="1900">
                <a:solidFill>
                  <a:srgbClr val="122B54"/>
                </a:solidFill>
              </a:rPr>
              <a:t>l’EAD dépend du bilan (en général fixe) et hors bilan.</a:t>
            </a:r>
            <a:endParaRPr b="0" i="0" sz="1900" u="none" cap="none" strike="noStrike">
              <a:solidFill>
                <a:srgbClr val="122B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22B54"/>
              </a:buClr>
              <a:buSzPts val="1900"/>
              <a:buChar char="●"/>
            </a:pPr>
            <a:r>
              <a:rPr lang="fr-FR" sz="1900">
                <a:solidFill>
                  <a:srgbClr val="122B54"/>
                </a:solidFill>
              </a:rPr>
              <a:t>l’EAD est jusqu’à présent calculé avec les modèles de Bâle avec quelques petits ajustement. Cette logique est </a:t>
            </a:r>
            <a:r>
              <a:rPr b="1" lang="fr-FR" sz="1900">
                <a:solidFill>
                  <a:srgbClr val="122B54"/>
                </a:solidFill>
              </a:rPr>
              <a:t>statique</a:t>
            </a:r>
            <a:r>
              <a:rPr lang="fr-FR" sz="1900">
                <a:solidFill>
                  <a:srgbClr val="122B54"/>
                </a:solidFill>
              </a:rPr>
              <a:t>.</a:t>
            </a:r>
            <a:endParaRPr sz="1900">
              <a:solidFill>
                <a:srgbClr val="122B54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122B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122B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122B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122B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122B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B54"/>
              </a:buClr>
              <a:buSzPts val="1900"/>
              <a:buFont typeface="Arial"/>
              <a:buChar char="●"/>
            </a:pPr>
            <a:r>
              <a:rPr b="0" i="0" lang="fr-FR" sz="1900" u="none" cap="none" strike="noStrike">
                <a:solidFill>
                  <a:srgbClr val="122B54"/>
                </a:solidFill>
                <a:latin typeface="Arial"/>
                <a:ea typeface="Arial"/>
                <a:cs typeface="Arial"/>
                <a:sym typeface="Arial"/>
              </a:rPr>
              <a:t>Objectif : </a:t>
            </a:r>
            <a:r>
              <a:rPr lang="fr-FR" sz="1900">
                <a:solidFill>
                  <a:srgbClr val="122B54"/>
                </a:solidFill>
              </a:rPr>
              <a:t>modéliser l’EAD hors bilan</a:t>
            </a:r>
            <a:endParaRPr sz="1900">
              <a:solidFill>
                <a:srgbClr val="122B54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B54"/>
              </a:buClr>
              <a:buSzPts val="1900"/>
              <a:buChar char="●"/>
            </a:pPr>
            <a:r>
              <a:rPr lang="fr-FR" sz="1900">
                <a:solidFill>
                  <a:srgbClr val="122B54"/>
                </a:solidFill>
              </a:rPr>
              <a:t>Objectif intermédiaire : projeter le CCF</a:t>
            </a:r>
            <a:endParaRPr sz="1900">
              <a:solidFill>
                <a:srgbClr val="122B54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22B54"/>
              </a:buClr>
              <a:buSzPts val="1900"/>
              <a:buChar char="●"/>
            </a:pPr>
            <a:r>
              <a:rPr lang="fr-FR" sz="1900">
                <a:solidFill>
                  <a:srgbClr val="122B54"/>
                </a:solidFill>
              </a:rPr>
              <a:t>Sous objectif : mettre un existant sur CCF à 3 ans et à maturité</a:t>
            </a:r>
            <a:endParaRPr sz="1900">
              <a:solidFill>
                <a:srgbClr val="122B54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2B5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c9462a2cb_0_4"/>
          <p:cNvSpPr txBox="1"/>
          <p:nvPr>
            <p:ph type="title"/>
          </p:nvPr>
        </p:nvSpPr>
        <p:spPr>
          <a:xfrm>
            <a:off x="393700" y="414263"/>
            <a:ext cx="100404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800"/>
              <a:buFont typeface="Arial"/>
              <a:buNone/>
            </a:pPr>
            <a:r>
              <a:rPr lang="fr-FR"/>
              <a:t>Stratégie de modélisation de l</a:t>
            </a:r>
            <a:r>
              <a:rPr lang="fr-FR">
                <a:solidFill>
                  <a:srgbClr val="FF9900"/>
                </a:solidFill>
              </a:rPr>
              <a:t>’EAD hors bilan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12" name="Google Shape;112;g35c9462a2cb_0_4"/>
          <p:cNvSpPr txBox="1"/>
          <p:nvPr>
            <p:ph idx="12" type="sldNum"/>
          </p:nvPr>
        </p:nvSpPr>
        <p:spPr>
          <a:xfrm>
            <a:off x="11671859" y="6499455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3" name="Google Shape;113;g35c9462a2cb_0_4"/>
          <p:cNvSpPr txBox="1"/>
          <p:nvPr/>
        </p:nvSpPr>
        <p:spPr>
          <a:xfrm>
            <a:off x="977365" y="4768171"/>
            <a:ext cx="552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5c9462a2cb_0_4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5c9462a2cb_0_4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c9462a2cb_0_4"/>
          <p:cNvSpPr txBox="1"/>
          <p:nvPr>
            <p:ph idx="1" type="body"/>
          </p:nvPr>
        </p:nvSpPr>
        <p:spPr>
          <a:xfrm>
            <a:off x="8413849" y="26490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17" name="Google Shape;117;g35c9462a2c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428" y="1279478"/>
            <a:ext cx="5989490" cy="478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9462a2cb_0_15"/>
          <p:cNvSpPr txBox="1"/>
          <p:nvPr>
            <p:ph type="title"/>
          </p:nvPr>
        </p:nvSpPr>
        <p:spPr>
          <a:xfrm>
            <a:off x="460600" y="264888"/>
            <a:ext cx="100404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800"/>
              <a:buFont typeface="Arial"/>
              <a:buNone/>
            </a:pPr>
            <a:r>
              <a:rPr lang="fr-FR"/>
              <a:t>Données externes </a:t>
            </a:r>
            <a:r>
              <a:rPr lang="fr-FR">
                <a:solidFill>
                  <a:srgbClr val="FF9900"/>
                </a:solidFill>
              </a:rPr>
              <a:t>macroéconomiques 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24" name="Google Shape;124;g35c9462a2cb_0_15"/>
          <p:cNvSpPr txBox="1"/>
          <p:nvPr>
            <p:ph idx="12" type="sldNum"/>
          </p:nvPr>
        </p:nvSpPr>
        <p:spPr>
          <a:xfrm>
            <a:off x="11671859" y="6499455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5" name="Google Shape;125;g35c9462a2cb_0_15"/>
          <p:cNvSpPr txBox="1"/>
          <p:nvPr/>
        </p:nvSpPr>
        <p:spPr>
          <a:xfrm>
            <a:off x="977365" y="4768171"/>
            <a:ext cx="552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5c9462a2cb_0_15"/>
          <p:cNvSpPr txBox="1"/>
          <p:nvPr/>
        </p:nvSpPr>
        <p:spPr>
          <a:xfrm>
            <a:off x="460600" y="5170613"/>
            <a:ext cx="13134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fr-FR" sz="1900">
                <a:solidFill>
                  <a:srgbClr val="122B54"/>
                </a:solidFill>
              </a:rPr>
              <a:t>PIB total - Volume aux prix de l'année précédente chaînés (millions d'euros) </a:t>
            </a:r>
            <a:endParaRPr sz="1900">
              <a:solidFill>
                <a:srgbClr val="122B54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fr-FR" sz="1900">
                <a:solidFill>
                  <a:srgbClr val="122B54"/>
                </a:solidFill>
              </a:rPr>
              <a:t>Indice des prix à la consommatio</a:t>
            </a:r>
            <a:r>
              <a:rPr lang="fr-FR" sz="1900">
                <a:solidFill>
                  <a:srgbClr val="122B54"/>
                </a:solidFill>
              </a:rPr>
              <a:t>n - Base 2015 - Ensemble des ménages - France</a:t>
            </a:r>
            <a:endParaRPr sz="1900">
              <a:solidFill>
                <a:srgbClr val="122B54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fr-FR" sz="1900">
                <a:solidFill>
                  <a:srgbClr val="122B54"/>
                </a:solidFill>
              </a:rPr>
              <a:t>Taux de chômage au sens du BIT - Ensemble - France métropolitaine (%)</a:t>
            </a:r>
            <a:endParaRPr sz="1900">
              <a:solidFill>
                <a:srgbClr val="122B54"/>
              </a:solidFill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fr-FR" sz="1900">
                <a:solidFill>
                  <a:srgbClr val="122B54"/>
                </a:solidFill>
              </a:rPr>
              <a:t>Indice des prix des logements (neufs et anciens) - Base 100 en moyenne annuelle 2015 </a:t>
            </a:r>
            <a:endParaRPr sz="1900">
              <a:solidFill>
                <a:srgbClr val="122B54"/>
              </a:solidFill>
            </a:endParaRPr>
          </a:p>
        </p:txBody>
      </p:sp>
      <p:sp>
        <p:nvSpPr>
          <p:cNvPr id="127" name="Google Shape;127;g35c9462a2cb_0_15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5c9462a2cb_0_15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5c9462a2cb_0_15"/>
          <p:cNvSpPr txBox="1"/>
          <p:nvPr>
            <p:ph idx="1" type="body"/>
          </p:nvPr>
        </p:nvSpPr>
        <p:spPr>
          <a:xfrm>
            <a:off x="8413849" y="26490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30" name="Google Shape;130;g35c9462a2c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437" y="1054549"/>
            <a:ext cx="5170726" cy="4049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c9462a2cb_0_133"/>
          <p:cNvSpPr txBox="1"/>
          <p:nvPr>
            <p:ph type="title"/>
          </p:nvPr>
        </p:nvSpPr>
        <p:spPr>
          <a:xfrm>
            <a:off x="460600" y="417288"/>
            <a:ext cx="100404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800"/>
              <a:buFont typeface="Arial"/>
              <a:buNone/>
            </a:pPr>
            <a:r>
              <a:rPr lang="fr-FR"/>
              <a:t>Analyse de la </a:t>
            </a:r>
            <a:r>
              <a:rPr lang="fr-FR">
                <a:solidFill>
                  <a:srgbClr val="FF9900"/>
                </a:solidFill>
              </a:rPr>
              <a:t>stationnarité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37" name="Google Shape;137;g35c9462a2cb_0_133"/>
          <p:cNvSpPr txBox="1"/>
          <p:nvPr>
            <p:ph idx="12" type="sldNum"/>
          </p:nvPr>
        </p:nvSpPr>
        <p:spPr>
          <a:xfrm>
            <a:off x="11671859" y="6499455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8" name="Google Shape;138;g35c9462a2cb_0_133"/>
          <p:cNvSpPr txBox="1"/>
          <p:nvPr/>
        </p:nvSpPr>
        <p:spPr>
          <a:xfrm>
            <a:off x="977365" y="4768171"/>
            <a:ext cx="552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5c9462a2cb_0_133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5c9462a2cb_0_133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5c9462a2cb_0_133"/>
          <p:cNvSpPr txBox="1"/>
          <p:nvPr>
            <p:ph idx="1" type="body"/>
          </p:nvPr>
        </p:nvSpPr>
        <p:spPr>
          <a:xfrm>
            <a:off x="8413849" y="26490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42" name="Google Shape;142;g35c9462a2cb_0_133"/>
          <p:cNvSpPr txBox="1"/>
          <p:nvPr/>
        </p:nvSpPr>
        <p:spPr>
          <a:xfrm>
            <a:off x="479425" y="1376375"/>
            <a:ext cx="5372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43" name="Google Shape;143;g35c9462a2cb_0_133"/>
          <p:cNvGraphicFramePr/>
          <p:nvPr/>
        </p:nvGraphicFramePr>
        <p:xfrm>
          <a:off x="244300" y="1190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{F0587725-6B6E-47DF-8DBA-BF5FD4FD8129}</a:tableStyleId>
              </a:tblPr>
              <a:tblGrid>
                <a:gridCol w="3277125"/>
                <a:gridCol w="20688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lt1"/>
                          </a:solidFill>
                        </a:rPr>
                        <a:t>Variable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lt1"/>
                          </a:solidFill>
                        </a:rPr>
                        <a:t>Stationnarité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Indicateur_Moyen_1_5</a:t>
                      </a:r>
                      <a:endParaRPr sz="17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PAS stationnaire.</a:t>
                      </a:r>
                      <a:endParaRPr sz="17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Indicateur_Moyen_1_5 - I(1)</a:t>
                      </a:r>
                      <a:endParaRPr sz="17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Stationnaire.</a:t>
                      </a:r>
                      <a:endParaRPr sz="17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Indicateur_Moyen_1_6</a:t>
                      </a:r>
                      <a:endParaRPr sz="17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PAS stationnaire.</a:t>
                      </a:r>
                      <a:endParaRPr sz="17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Indicateur_Moyen_1_6 I(1)</a:t>
                      </a:r>
                      <a:endParaRPr sz="17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/>
                        <a:t>stationnaire</a:t>
                      </a:r>
                      <a:endParaRPr sz="17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" name="Google Shape;144;g35c9462a2cb_0_133"/>
          <p:cNvGraphicFramePr/>
          <p:nvPr/>
        </p:nvGraphicFramePr>
        <p:xfrm>
          <a:off x="5826900" y="119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{F0587725-6B6E-47DF-8DBA-BF5FD4FD8129}</a:tableStyleId>
              </a:tblPr>
              <a:tblGrid>
                <a:gridCol w="3748200"/>
                <a:gridCol w="20967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lt1"/>
                          </a:solidFill>
                        </a:rPr>
                        <a:t>Variable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lt1"/>
                          </a:solidFill>
                        </a:rPr>
                        <a:t>Stationnarité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du PIB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PAS stationnaire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IPL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PAS stationnaire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IPL - I(1)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PAS stationnaire.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IPL - I(2)</a:t>
                      </a:r>
                      <a:endParaRPr sz="18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IPLdiff1_hp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PAS stationnaire.</a:t>
                      </a:r>
                      <a:endParaRPr sz="18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Stationnaire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TCH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PAS stationnaire.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TCH - I(1)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stationnaire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inflation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PAS stationnaire.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taux de croissance Inflation - I(1)'</a:t>
                      </a:r>
                      <a:endParaRPr sz="18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stationnaire</a:t>
                      </a:r>
                      <a:endParaRPr sz="180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g35c9462a2cb_0_133"/>
          <p:cNvSpPr txBox="1"/>
          <p:nvPr/>
        </p:nvSpPr>
        <p:spPr>
          <a:xfrm>
            <a:off x="230913" y="4497075"/>
            <a:ext cx="53727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03781"/>
                </a:solidFill>
              </a:rPr>
              <a:t>Nous devons vérifier la stationnarité (moments constants) car si les variables explicatives ne sont pas stationnaires la chance d’avoir une corrélation proche de 1 est très élevée. L’écart type à des chances d’être très petit et la stat student deviendrait très grande. C’est un problème car les tests de significativités deviendrait faux. </a:t>
            </a:r>
            <a:endParaRPr sz="1500">
              <a:solidFill>
                <a:srgbClr val="00378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c9462a2cb_0_81"/>
          <p:cNvSpPr txBox="1"/>
          <p:nvPr>
            <p:ph type="title"/>
          </p:nvPr>
        </p:nvSpPr>
        <p:spPr>
          <a:xfrm>
            <a:off x="460600" y="417288"/>
            <a:ext cx="100404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800"/>
              <a:buFont typeface="Arial"/>
              <a:buNone/>
            </a:pPr>
            <a:r>
              <a:rPr lang="fr-FR"/>
              <a:t>Analyse des </a:t>
            </a:r>
            <a:r>
              <a:rPr lang="fr-FR">
                <a:solidFill>
                  <a:srgbClr val="FF9900"/>
                </a:solidFill>
              </a:rPr>
              <a:t>autocorrélation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52" name="Google Shape;152;g35c9462a2cb_0_81"/>
          <p:cNvSpPr txBox="1"/>
          <p:nvPr>
            <p:ph idx="12" type="sldNum"/>
          </p:nvPr>
        </p:nvSpPr>
        <p:spPr>
          <a:xfrm>
            <a:off x="11671859" y="6499455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53" name="Google Shape;153;g35c9462a2cb_0_81"/>
          <p:cNvSpPr txBox="1"/>
          <p:nvPr/>
        </p:nvSpPr>
        <p:spPr>
          <a:xfrm>
            <a:off x="1148815" y="4939621"/>
            <a:ext cx="552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5c9462a2cb_0_81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5c9462a2cb_0_81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5c9462a2cb_0_81"/>
          <p:cNvSpPr txBox="1"/>
          <p:nvPr>
            <p:ph idx="1" type="body"/>
          </p:nvPr>
        </p:nvSpPr>
        <p:spPr>
          <a:xfrm>
            <a:off x="8413849" y="26490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57" name="Google Shape;157;g35c9462a2cb_0_81"/>
          <p:cNvPicPr preferRelativeResize="0"/>
          <p:nvPr/>
        </p:nvPicPr>
        <p:blipFill rotWithShape="1">
          <a:blip r:embed="rId3">
            <a:alphaModFix/>
          </a:blip>
          <a:srcRect b="0" l="50748" r="0" t="0"/>
          <a:stretch/>
        </p:blipFill>
        <p:spPr>
          <a:xfrm>
            <a:off x="293850" y="1521295"/>
            <a:ext cx="5625949" cy="4238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5c9462a2cb_0_81"/>
          <p:cNvPicPr preferRelativeResize="0"/>
          <p:nvPr/>
        </p:nvPicPr>
        <p:blipFill rotWithShape="1">
          <a:blip r:embed="rId4">
            <a:alphaModFix/>
          </a:blip>
          <a:srcRect b="0" l="50748" r="0" t="0"/>
          <a:stretch/>
        </p:blipFill>
        <p:spPr>
          <a:xfrm>
            <a:off x="6203949" y="1535850"/>
            <a:ext cx="5625949" cy="42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5c9462a2cb_0_81"/>
          <p:cNvSpPr txBox="1"/>
          <p:nvPr/>
        </p:nvSpPr>
        <p:spPr>
          <a:xfrm>
            <a:off x="1606825" y="5927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accent1"/>
                </a:solidFill>
              </a:rPr>
              <a:t>lag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160" name="Google Shape;160;g35c9462a2cb_0_81"/>
          <p:cNvSpPr txBox="1"/>
          <p:nvPr/>
        </p:nvSpPr>
        <p:spPr>
          <a:xfrm>
            <a:off x="7676700" y="58561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accent1"/>
                </a:solidFill>
              </a:rPr>
              <a:t>lag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161" name="Google Shape;161;g35c9462a2cb_0_81"/>
          <p:cNvSpPr txBox="1"/>
          <p:nvPr/>
        </p:nvSpPr>
        <p:spPr>
          <a:xfrm>
            <a:off x="4596000" y="3521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accent1"/>
                </a:solidFill>
              </a:rPr>
              <a:t>PACF</a:t>
            </a:r>
            <a:endParaRPr sz="800">
              <a:solidFill>
                <a:schemeClr val="accent1"/>
              </a:solidFill>
            </a:endParaRPr>
          </a:p>
        </p:txBody>
      </p:sp>
      <p:sp>
        <p:nvSpPr>
          <p:cNvPr id="162" name="Google Shape;162;g35c9462a2cb_0_81"/>
          <p:cNvSpPr txBox="1"/>
          <p:nvPr/>
        </p:nvSpPr>
        <p:spPr>
          <a:xfrm>
            <a:off x="-1325125" y="348665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accent1"/>
                </a:solidFill>
              </a:rPr>
              <a:t>PACF</a:t>
            </a:r>
            <a:endParaRPr sz="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c9462a2cb_0_119"/>
          <p:cNvSpPr txBox="1"/>
          <p:nvPr>
            <p:ph type="title"/>
          </p:nvPr>
        </p:nvSpPr>
        <p:spPr>
          <a:xfrm>
            <a:off x="460600" y="417288"/>
            <a:ext cx="100404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800"/>
              <a:buFont typeface="Arial"/>
              <a:buNone/>
            </a:pPr>
            <a:r>
              <a:rPr lang="fr-FR"/>
              <a:t>Cand</a:t>
            </a:r>
            <a:r>
              <a:rPr lang="fr-FR"/>
              <a:t>idats pour </a:t>
            </a:r>
            <a:r>
              <a:rPr lang="fr-FR">
                <a:solidFill>
                  <a:srgbClr val="FF9900"/>
                </a:solidFill>
              </a:rPr>
              <a:t>expliquer le CCF moyen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69" name="Google Shape;169;g35c9462a2cb_0_119"/>
          <p:cNvSpPr txBox="1"/>
          <p:nvPr>
            <p:ph idx="12" type="sldNum"/>
          </p:nvPr>
        </p:nvSpPr>
        <p:spPr>
          <a:xfrm>
            <a:off x="11671859" y="6499455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70" name="Google Shape;170;g35c9462a2cb_0_119"/>
          <p:cNvSpPr txBox="1"/>
          <p:nvPr/>
        </p:nvSpPr>
        <p:spPr>
          <a:xfrm>
            <a:off x="977365" y="4768171"/>
            <a:ext cx="552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5c9462a2cb_0_119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5c9462a2cb_0_119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5c9462a2cb_0_119"/>
          <p:cNvSpPr txBox="1"/>
          <p:nvPr>
            <p:ph idx="1" type="body"/>
          </p:nvPr>
        </p:nvSpPr>
        <p:spPr>
          <a:xfrm>
            <a:off x="8413849" y="26490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74" name="Google Shape;174;g35c9462a2cb_0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40" y="1597588"/>
            <a:ext cx="4768515" cy="421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5c9462a2cb_0_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7590" y="1597588"/>
            <a:ext cx="4782792" cy="421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/>
          <p:nvPr>
            <p:ph type="title"/>
          </p:nvPr>
        </p:nvSpPr>
        <p:spPr>
          <a:xfrm>
            <a:off x="74400" y="173600"/>
            <a:ext cx="11727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La base d’apprentissage, </a:t>
            </a:r>
            <a:r>
              <a:rPr lang="fr-FR">
                <a:solidFill>
                  <a:srgbClr val="FF9900"/>
                </a:solidFill>
              </a:rPr>
              <a:t>créations</a:t>
            </a:r>
            <a:r>
              <a:rPr lang="fr-FR">
                <a:solidFill>
                  <a:srgbClr val="FF9900"/>
                </a:solidFill>
              </a:rPr>
              <a:t> de variables</a:t>
            </a:r>
            <a:endParaRPr sz="3400">
              <a:solidFill>
                <a:srgbClr val="FF9900"/>
              </a:solidFill>
            </a:endParaRPr>
          </a:p>
        </p:txBody>
      </p:sp>
      <p:sp>
        <p:nvSpPr>
          <p:cNvPr id="182" name="Google Shape;182;p3"/>
          <p:cNvSpPr txBox="1"/>
          <p:nvPr>
            <p:ph idx="12" type="sldNum"/>
          </p:nvPr>
        </p:nvSpPr>
        <p:spPr>
          <a:xfrm>
            <a:off x="11802012" y="6550789"/>
            <a:ext cx="268995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682363" y="1397075"/>
            <a:ext cx="4935300" cy="71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682361" y="1352075"/>
            <a:ext cx="49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Base apprentissage : </a:t>
            </a:r>
            <a:r>
              <a:rPr lang="fr-FR" sz="2000">
                <a:solidFill>
                  <a:schemeClr val="lt1"/>
                </a:solidFill>
              </a:rPr>
              <a:t>CCF moyen </a:t>
            </a:r>
            <a:r>
              <a:rPr b="0" i="0" lang="fr-F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 </a:t>
            </a:r>
            <a:r>
              <a:rPr lang="fr-FR" sz="2000">
                <a:solidFill>
                  <a:schemeClr val="lt1"/>
                </a:solidFill>
              </a:rPr>
              <a:t>trimestre</a:t>
            </a:r>
            <a:r>
              <a:rPr b="0" i="0" lang="fr-F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associés aux </a:t>
            </a:r>
            <a:r>
              <a:rPr lang="fr-FR" sz="2000">
                <a:solidFill>
                  <a:schemeClr val="lt1"/>
                </a:solidFill>
              </a:rPr>
              <a:t>variables macro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82375" y="2124475"/>
            <a:ext cx="4935300" cy="329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752125" y="2281225"/>
            <a:ext cx="47883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</a:t>
            </a:r>
            <a:r>
              <a:rPr lang="fr-FR" sz="2000">
                <a:solidFill>
                  <a:schemeClr val="dk1"/>
                </a:solidFill>
              </a:rPr>
              <a:t>macro différenciés</a:t>
            </a:r>
            <a:r>
              <a:rPr lang="fr-FR" sz="2000">
                <a:solidFill>
                  <a:schemeClr val="dk1"/>
                </a:solidFill>
                <a:highlight>
                  <a:srgbClr val="FFFFFF"/>
                </a:highlight>
              </a:rPr>
              <a:t> selon la différenciation. 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fr-FR" sz="2000">
                <a:solidFill>
                  <a:schemeClr val="dk1"/>
                </a:solidFill>
              </a:rPr>
              <a:t>pour la projection, 3 scénarios macroéconomiques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fr-FR" sz="2000">
                <a:solidFill>
                  <a:schemeClr val="dk1"/>
                </a:solidFill>
              </a:rPr>
              <a:t>Variables en moyenne mobile : PIB en moyenne mobile, ..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fr-FR" sz="2000">
                <a:solidFill>
                  <a:schemeClr val="dk1"/>
                </a:solidFill>
              </a:rPr>
              <a:t>Variables en puissances : PIB^2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fr-FR" sz="2000">
                <a:solidFill>
                  <a:schemeClr val="dk1"/>
                </a:solidFill>
              </a:rPr>
              <a:t>Interactions : PIB x TCH, ..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>
            <p:ph idx="1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5897000" y="3094625"/>
            <a:ext cx="969900" cy="8871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6657438" y="4476325"/>
            <a:ext cx="5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2" name="Google Shape;192;p3"/>
          <p:cNvGraphicFramePr/>
          <p:nvPr/>
        </p:nvGraphicFramePr>
        <p:xfrm>
          <a:off x="7146238" y="134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{75DCD661-772E-4673-AAB4-419A523172AC}</a:tableStyleId>
              </a:tblPr>
              <a:tblGrid>
                <a:gridCol w="2615725"/>
                <a:gridCol w="2172650"/>
              </a:tblGrid>
              <a:tr h="37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solidFill>
                            <a:schemeClr val="lt1"/>
                          </a:solidFill>
                        </a:rPr>
                        <a:t>Variables supplémentaire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solidFill>
                            <a:schemeClr val="lt1"/>
                          </a:solidFill>
                        </a:rPr>
                        <a:t>Taux de corrélation avec le CCF moyen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7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IPL_diff1_hp_squared         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  0.46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TCH_x_IPL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-0.46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Inflation_x_IPL        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 0.39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TCH_diff1_lag2                    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   0.31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TCH_diff1 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>
                          <a:solidFill>
                            <a:schemeClr val="dk1"/>
                          </a:solidFill>
                        </a:rPr>
                        <a:t> 0.31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24541a552_0_208"/>
          <p:cNvSpPr txBox="1"/>
          <p:nvPr>
            <p:ph idx="12" type="sldNum"/>
          </p:nvPr>
        </p:nvSpPr>
        <p:spPr>
          <a:xfrm>
            <a:off x="11443580" y="6372000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99" name="Google Shape;199;g3224541a552_0_208"/>
          <p:cNvSpPr/>
          <p:nvPr/>
        </p:nvSpPr>
        <p:spPr>
          <a:xfrm>
            <a:off x="10422225" y="39360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224541a552_0_208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224541a552_0_208"/>
          <p:cNvSpPr txBox="1"/>
          <p:nvPr>
            <p:ph type="title"/>
          </p:nvPr>
        </p:nvSpPr>
        <p:spPr>
          <a:xfrm>
            <a:off x="329300" y="179738"/>
            <a:ext cx="103674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6511"/>
              <a:buNone/>
            </a:pPr>
            <a:r>
              <a:rPr lang="fr-FR"/>
              <a:t>Un modèle </a:t>
            </a:r>
            <a:r>
              <a:rPr lang="fr-FR">
                <a:solidFill>
                  <a:srgbClr val="FF9900"/>
                </a:solidFill>
              </a:rPr>
              <a:t>sans biais et capable de généraliser </a:t>
            </a:r>
            <a:endParaRPr/>
          </a:p>
        </p:txBody>
      </p:sp>
      <p:sp>
        <p:nvSpPr>
          <p:cNvPr id="202" name="Google Shape;202;g3224541a552_0_208"/>
          <p:cNvSpPr txBox="1"/>
          <p:nvPr/>
        </p:nvSpPr>
        <p:spPr>
          <a:xfrm>
            <a:off x="329300" y="5033200"/>
            <a:ext cx="6155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Grâce à la pénalisation, nous pouvons réduire l’importance des coefficients pour que le modèle puisse mieux généraliser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24541a552_0_208"/>
          <p:cNvSpPr txBox="1"/>
          <p:nvPr/>
        </p:nvSpPr>
        <p:spPr>
          <a:xfrm>
            <a:off x="0" y="5956600"/>
            <a:ext cx="67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Stratégie de validation stratifié et croisée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24541a552_0_208"/>
          <p:cNvSpPr/>
          <p:nvPr/>
        </p:nvSpPr>
        <p:spPr>
          <a:xfrm>
            <a:off x="641825" y="5858800"/>
            <a:ext cx="600900" cy="657300"/>
          </a:xfrm>
          <a:prstGeom prst="mathPlus">
            <a:avLst>
              <a:gd fmla="val 23520" name="adj1"/>
            </a:avLst>
          </a:prstGeom>
          <a:solidFill>
            <a:srgbClr val="FF99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24541a552_0_208"/>
          <p:cNvSpPr txBox="1"/>
          <p:nvPr>
            <p:ph idx="1" type="body"/>
          </p:nvPr>
        </p:nvSpPr>
        <p:spPr>
          <a:xfrm>
            <a:off x="11000474" y="344150"/>
            <a:ext cx="8025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06" name="Google Shape;206;g3224541a552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75" y="1480425"/>
            <a:ext cx="5108957" cy="32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224541a552_0_208"/>
          <p:cNvSpPr txBox="1"/>
          <p:nvPr/>
        </p:nvSpPr>
        <p:spPr>
          <a:xfrm>
            <a:off x="631825" y="1004063"/>
            <a:ext cx="952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exemple fictif : évolution d</a:t>
            </a:r>
            <a:r>
              <a:rPr lang="fr-FR" sz="1500">
                <a:solidFill>
                  <a:schemeClr val="dk1"/>
                </a:solidFill>
              </a:rPr>
              <a:t>u R2 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selon le niveau de feature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224541a552_0_208"/>
          <p:cNvSpPr/>
          <p:nvPr/>
        </p:nvSpPr>
        <p:spPr>
          <a:xfrm>
            <a:off x="6695700" y="1415450"/>
            <a:ext cx="5109000" cy="746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224541a552_0_208"/>
          <p:cNvSpPr txBox="1"/>
          <p:nvPr/>
        </p:nvSpPr>
        <p:spPr>
          <a:xfrm>
            <a:off x="6778650" y="1542200"/>
            <a:ext cx="500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Choix d’un modèle 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224541a552_0_208"/>
          <p:cNvSpPr/>
          <p:nvPr/>
        </p:nvSpPr>
        <p:spPr>
          <a:xfrm>
            <a:off x="6695700" y="2129275"/>
            <a:ext cx="5109000" cy="296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224541a552_0_208"/>
          <p:cNvSpPr txBox="1"/>
          <p:nvPr/>
        </p:nvSpPr>
        <p:spPr>
          <a:xfrm>
            <a:off x="6848100" y="2291425"/>
            <a:ext cx="4724700" cy="3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81"/>
              </a:buClr>
              <a:buSzPts val="1900"/>
              <a:buFont typeface="Arial"/>
              <a:buChar char="●"/>
            </a:pPr>
            <a:r>
              <a:rPr b="0" i="0" lang="fr-FR" sz="1700" u="none" cap="none" strike="noStrike">
                <a:solidFill>
                  <a:srgbClr val="003781"/>
                </a:solidFill>
                <a:latin typeface="Arial"/>
                <a:ea typeface="Arial"/>
                <a:cs typeface="Arial"/>
                <a:sym typeface="Arial"/>
              </a:rPr>
              <a:t>La performance entre des modèles complexes, comme le </a:t>
            </a:r>
            <a:r>
              <a:rPr lang="fr-FR" sz="1700">
                <a:solidFill>
                  <a:srgbClr val="003781"/>
                </a:solidFill>
              </a:rPr>
              <a:t>Xg boost</a:t>
            </a:r>
            <a:r>
              <a:rPr b="0" i="0" lang="fr-FR" sz="1700" u="none" cap="none" strike="noStrike">
                <a:solidFill>
                  <a:srgbClr val="003781"/>
                </a:solidFill>
                <a:latin typeface="Arial"/>
                <a:ea typeface="Arial"/>
                <a:cs typeface="Arial"/>
                <a:sym typeface="Arial"/>
              </a:rPr>
              <a:t>, permet de capturer des relations non linéaires, mais en contrepartie, le niveau d'overfitting peut </a:t>
            </a:r>
            <a:r>
              <a:rPr lang="fr-FR" sz="1700">
                <a:solidFill>
                  <a:srgbClr val="003781"/>
                </a:solidFill>
              </a:rPr>
              <a:t>être </a:t>
            </a:r>
            <a:r>
              <a:rPr b="0" i="0" lang="fr-FR" sz="1700" u="none" cap="none" strike="noStrike">
                <a:solidFill>
                  <a:srgbClr val="003781"/>
                </a:solidFill>
                <a:latin typeface="Arial"/>
                <a:ea typeface="Arial"/>
                <a:cs typeface="Arial"/>
                <a:sym typeface="Arial"/>
              </a:rPr>
              <a:t>très élevé. </a:t>
            </a:r>
            <a:endParaRPr b="0" i="0" sz="17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81"/>
              </a:buClr>
              <a:buSzPts val="1900"/>
              <a:buFont typeface="Arial"/>
              <a:buChar char="●"/>
            </a:pPr>
            <a:r>
              <a:rPr b="0" i="0" lang="fr-FR" sz="1700" u="none" cap="none" strike="noStrike">
                <a:solidFill>
                  <a:srgbClr val="00378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fr-FR" sz="1700" u="none" cap="none" strike="noStrike">
                <a:solidFill>
                  <a:srgbClr val="003781"/>
                </a:solidFill>
                <a:latin typeface="Arial"/>
                <a:ea typeface="Arial"/>
                <a:cs typeface="Arial"/>
                <a:sym typeface="Arial"/>
              </a:rPr>
              <a:t>régression logistique</a:t>
            </a:r>
            <a:r>
              <a:rPr b="0" i="0" lang="fr-FR" sz="1700" u="none" cap="none" strike="noStrike">
                <a:solidFill>
                  <a:srgbClr val="003781"/>
                </a:solidFill>
                <a:latin typeface="Arial"/>
                <a:ea typeface="Arial"/>
                <a:cs typeface="Arial"/>
                <a:sym typeface="Arial"/>
              </a:rPr>
              <a:t> donne une performance stable et sûre, avec un minimum de risques, et elle est adaptée aux caractéristiques du bruit.</a:t>
            </a:r>
            <a:endParaRPr b="0" i="0" sz="17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224541a552_0_208"/>
          <p:cNvSpPr txBox="1"/>
          <p:nvPr/>
        </p:nvSpPr>
        <p:spPr>
          <a:xfrm>
            <a:off x="1748475" y="47410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niveau de feature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24541a552_0_208"/>
          <p:cNvSpPr txBox="1"/>
          <p:nvPr/>
        </p:nvSpPr>
        <p:spPr>
          <a:xfrm>
            <a:off x="2096150" y="2972625"/>
            <a:ext cx="2622000" cy="3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Régression pénalisé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24541a552_0_208"/>
          <p:cNvSpPr txBox="1"/>
          <p:nvPr/>
        </p:nvSpPr>
        <p:spPr>
          <a:xfrm>
            <a:off x="2186600" y="1339250"/>
            <a:ext cx="2622000" cy="3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Régression non pénalisé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817179f40_0_13"/>
          <p:cNvSpPr txBox="1"/>
          <p:nvPr>
            <p:ph type="title"/>
          </p:nvPr>
        </p:nvSpPr>
        <p:spPr>
          <a:xfrm>
            <a:off x="479425" y="344150"/>
            <a:ext cx="97419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Quel modèle présente un </a:t>
            </a:r>
            <a:r>
              <a:rPr lang="fr-FR">
                <a:solidFill>
                  <a:srgbClr val="FF9900"/>
                </a:solidFill>
              </a:rPr>
              <a:t>potentiel ?</a:t>
            </a:r>
            <a:r>
              <a:rPr lang="fr-FR"/>
              <a:t>  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21" name="Google Shape;221;g32817179f40_0_13"/>
          <p:cNvSpPr txBox="1"/>
          <p:nvPr>
            <p:ph idx="12" type="sldNum"/>
          </p:nvPr>
        </p:nvSpPr>
        <p:spPr>
          <a:xfrm>
            <a:off x="11690370" y="6508944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22" name="Google Shape;222;g32817179f40_0_13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2817179f40_0_13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2817179f40_0_13"/>
          <p:cNvSpPr txBox="1"/>
          <p:nvPr>
            <p:ph idx="1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/>
              <a:t>Risque de </a:t>
            </a:r>
            <a:r>
              <a:rPr lang="fr-FR"/>
              <a:t>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25" name="Google Shape;225;g32817179f40_0_13"/>
          <p:cNvSpPr txBox="1"/>
          <p:nvPr/>
        </p:nvSpPr>
        <p:spPr>
          <a:xfrm>
            <a:off x="7530900" y="344150"/>
            <a:ext cx="49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6" name="Google Shape;226;g32817179f40_0_13"/>
          <p:cNvGraphicFramePr/>
          <p:nvPr/>
        </p:nvGraphicFramePr>
        <p:xfrm>
          <a:off x="531975" y="13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{F0587725-6B6E-47DF-8DBA-BF5FD4FD8129}</a:tableStyleId>
              </a:tblPr>
              <a:tblGrid>
                <a:gridCol w="1640850"/>
                <a:gridCol w="12127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>
                          <a:solidFill>
                            <a:schemeClr val="lt1"/>
                          </a:solidFill>
                        </a:rPr>
                        <a:t>Modèles</a:t>
                      </a:r>
                      <a:endParaRPr sz="19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>
                          <a:solidFill>
                            <a:schemeClr val="lt1"/>
                          </a:solidFill>
                        </a:rPr>
                        <a:t>Métrique moyenne R2 </a:t>
                      </a:r>
                      <a:endParaRPr sz="19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OLS</a:t>
                      </a:r>
                      <a:endParaRPr sz="195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0.36</a:t>
                      </a:r>
                      <a:endParaRPr sz="19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Ridge</a:t>
                      </a:r>
                      <a:endParaRPr sz="195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0.33</a:t>
                      </a:r>
                      <a:endParaRPr sz="19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Lasso</a:t>
                      </a:r>
                      <a:endParaRPr sz="195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0.34</a:t>
                      </a:r>
                      <a:endParaRPr sz="19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RF</a:t>
                      </a:r>
                      <a:endParaRPr sz="195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0.89</a:t>
                      </a:r>
                      <a:endParaRPr sz="19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g32817179f40_0_13"/>
          <p:cNvGraphicFramePr/>
          <p:nvPr/>
        </p:nvGraphicFramePr>
        <p:xfrm>
          <a:off x="4295763" y="477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{F0587725-6B6E-47DF-8DBA-BF5FD4FD8129}</a:tableStyleId>
              </a:tblPr>
              <a:tblGrid>
                <a:gridCol w="2115525"/>
                <a:gridCol w="1119600"/>
                <a:gridCol w="1408450"/>
                <a:gridCol w="1832675"/>
                <a:gridCol w="13066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>
                          <a:solidFill>
                            <a:schemeClr val="lt1"/>
                          </a:solidFill>
                        </a:rPr>
                        <a:t>condtitions MCO</a:t>
                      </a:r>
                      <a:endParaRPr sz="19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>
                          <a:solidFill>
                            <a:schemeClr val="lt1"/>
                          </a:solidFill>
                        </a:rPr>
                        <a:t>DW</a:t>
                      </a:r>
                      <a:endParaRPr sz="19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>
                          <a:solidFill>
                            <a:schemeClr val="lt1"/>
                          </a:solidFill>
                        </a:rPr>
                        <a:t>BP_p</a:t>
                      </a:r>
                      <a:endParaRPr sz="19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>
                          <a:solidFill>
                            <a:schemeClr val="lt1"/>
                          </a:solidFill>
                        </a:rPr>
                        <a:t>Shapiro_p</a:t>
                      </a:r>
                      <a:endParaRPr sz="19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>
                          <a:solidFill>
                            <a:schemeClr val="lt1"/>
                          </a:solidFill>
                        </a:rPr>
                        <a:t>JB_p</a:t>
                      </a:r>
                      <a:endParaRPr sz="19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Score</a:t>
                      </a:r>
                      <a:endParaRPr sz="195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1.12</a:t>
                      </a:r>
                      <a:endParaRPr sz="1950"/>
                    </a:p>
                  </a:txBody>
                  <a:tcPr marT="91425" marB="91425" marR="91425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0.32</a:t>
                      </a:r>
                      <a:endParaRPr sz="1950"/>
                    </a:p>
                  </a:txBody>
                  <a:tcPr marT="91425" marB="91425" marR="91425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0.24</a:t>
                      </a:r>
                      <a:endParaRPr sz="1950"/>
                    </a:p>
                  </a:txBody>
                  <a:tcPr marT="91425" marB="91425" marR="91425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50"/>
                        <a:t>0.47</a:t>
                      </a:r>
                      <a:endParaRPr sz="1950"/>
                    </a:p>
                  </a:txBody>
                  <a:tcPr marT="91425" marB="91425" marR="91425" marL="91425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8" name="Google Shape;228;g32817179f40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839" y="1150850"/>
            <a:ext cx="7808576" cy="321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cf1504f34_0_34"/>
          <p:cNvSpPr txBox="1"/>
          <p:nvPr>
            <p:ph type="title"/>
          </p:nvPr>
        </p:nvSpPr>
        <p:spPr>
          <a:xfrm>
            <a:off x="278400" y="174075"/>
            <a:ext cx="97419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6511"/>
              <a:buNone/>
            </a:pPr>
            <a:r>
              <a:rPr lang="fr-FR"/>
              <a:t>Quels variables sont </a:t>
            </a:r>
            <a:r>
              <a:rPr lang="fr-FR">
                <a:solidFill>
                  <a:srgbClr val="FF9900"/>
                </a:solidFill>
              </a:rPr>
              <a:t>les plus importantes pour les modèles ?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35" name="Google Shape;235;g35cf1504f34_0_34"/>
          <p:cNvSpPr txBox="1"/>
          <p:nvPr>
            <p:ph idx="12" type="sldNum"/>
          </p:nvPr>
        </p:nvSpPr>
        <p:spPr>
          <a:xfrm>
            <a:off x="11690370" y="6508944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36" name="Google Shape;236;g35cf1504f34_0_34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5cf1504f34_0_34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5cf1504f34_0_34"/>
          <p:cNvSpPr txBox="1"/>
          <p:nvPr>
            <p:ph idx="1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39" name="Google Shape;239;g35cf1504f34_0_34"/>
          <p:cNvSpPr txBox="1"/>
          <p:nvPr/>
        </p:nvSpPr>
        <p:spPr>
          <a:xfrm>
            <a:off x="7530900" y="344150"/>
            <a:ext cx="49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5cf1504f34_0_34"/>
          <p:cNvSpPr txBox="1"/>
          <p:nvPr/>
        </p:nvSpPr>
        <p:spPr>
          <a:xfrm>
            <a:off x="479425" y="1805850"/>
            <a:ext cx="103755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950" u="sng"/>
              <a:t>IPL_diff1_hp_square </a:t>
            </a:r>
            <a:r>
              <a:rPr lang="fr-FR" sz="1950"/>
              <a:t>: Cette variable mesure </a:t>
            </a:r>
            <a:r>
              <a:rPr b="1" lang="fr-FR" sz="1950"/>
              <a:t>l’intensité des fluctuations cycliques de la variation de la croissance de l’indice des prix immobiliers</a:t>
            </a:r>
            <a:r>
              <a:rPr lang="fr-FR" sz="1950"/>
              <a:t>. Elle capte les phases de hausse forte ou de correction marquées.</a:t>
            </a:r>
            <a:endParaRPr sz="19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950" u="sng"/>
              <a:t>PIB squared </a:t>
            </a:r>
            <a:r>
              <a:rPr lang="fr-FR" sz="1950"/>
              <a:t>: capture une relation quadratique entre le PIB et le CCF moyen. C’est à </a:t>
            </a:r>
            <a:r>
              <a:rPr b="1" lang="fr-FR" sz="1950"/>
              <a:t>dire l’intensité de la croissance plutôt que son sens.</a:t>
            </a:r>
            <a:r>
              <a:rPr lang="fr-FR" sz="1950"/>
              <a:t> </a:t>
            </a:r>
            <a:endParaRPr sz="19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950" u="sng"/>
              <a:t>TCH_ma3 et TCH_ma5</a:t>
            </a:r>
            <a:r>
              <a:rPr lang="fr-FR" sz="1950"/>
              <a:t> capturent les tendances moyennes plutôt que les fluctuations instantanées. Elles reflètent l</a:t>
            </a:r>
            <a:r>
              <a:rPr b="1" lang="fr-FR" sz="1950"/>
              <a:t>’effet moyen persistant du chômage sur le CCF moyen.</a:t>
            </a:r>
            <a:endParaRPr b="1" sz="1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cf1504f34_0_92"/>
          <p:cNvSpPr txBox="1"/>
          <p:nvPr>
            <p:ph type="title"/>
          </p:nvPr>
        </p:nvSpPr>
        <p:spPr>
          <a:xfrm>
            <a:off x="278400" y="174075"/>
            <a:ext cx="97419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Projection CCF : les </a:t>
            </a:r>
            <a:r>
              <a:rPr lang="fr-FR">
                <a:solidFill>
                  <a:srgbClr val="FF9900"/>
                </a:solidFill>
              </a:rPr>
              <a:t>scénarios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47" name="Google Shape;247;g35cf1504f34_0_92"/>
          <p:cNvSpPr txBox="1"/>
          <p:nvPr>
            <p:ph idx="12" type="sldNum"/>
          </p:nvPr>
        </p:nvSpPr>
        <p:spPr>
          <a:xfrm>
            <a:off x="11690370" y="6508944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48" name="Google Shape;248;g35cf1504f34_0_92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5cf1504f34_0_92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5cf1504f34_0_92"/>
          <p:cNvSpPr txBox="1"/>
          <p:nvPr>
            <p:ph idx="1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rgbClr val="FF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51" name="Google Shape;251;g35cf1504f34_0_92"/>
          <p:cNvSpPr txBox="1"/>
          <p:nvPr/>
        </p:nvSpPr>
        <p:spPr>
          <a:xfrm>
            <a:off x="7530900" y="344150"/>
            <a:ext cx="49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g35cf1504f34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140" y="1508399"/>
            <a:ext cx="7040760" cy="42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5cf1504f34_0_92"/>
          <p:cNvSpPr/>
          <p:nvPr/>
        </p:nvSpPr>
        <p:spPr>
          <a:xfrm>
            <a:off x="577025" y="2327250"/>
            <a:ext cx="3806700" cy="746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5cf1504f34_0_92"/>
          <p:cNvSpPr txBox="1"/>
          <p:nvPr/>
        </p:nvSpPr>
        <p:spPr>
          <a:xfrm>
            <a:off x="796125" y="2454000"/>
            <a:ext cx="380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chemeClr val="lt1"/>
                </a:solidFill>
              </a:rPr>
              <a:t>3 scénarios macro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5cf1504f34_0_92"/>
          <p:cNvSpPr/>
          <p:nvPr/>
        </p:nvSpPr>
        <p:spPr>
          <a:xfrm>
            <a:off x="554450" y="3041075"/>
            <a:ext cx="3829200" cy="1938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5cf1504f34_0_92"/>
          <p:cNvSpPr txBox="1"/>
          <p:nvPr/>
        </p:nvSpPr>
        <p:spPr>
          <a:xfrm>
            <a:off x="673325" y="3073350"/>
            <a:ext cx="37104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81"/>
              </a:buClr>
              <a:buSzPts val="1900"/>
              <a:buFont typeface="Arial"/>
              <a:buChar char="●"/>
            </a:pPr>
            <a:r>
              <a:rPr lang="fr-FR" sz="1700">
                <a:solidFill>
                  <a:srgbClr val="003781"/>
                </a:solidFill>
              </a:rPr>
              <a:t>Optimiste</a:t>
            </a:r>
            <a:endParaRPr b="0" i="0" sz="17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81"/>
              </a:buClr>
              <a:buSzPts val="1900"/>
              <a:buFont typeface="Arial"/>
              <a:buChar char="●"/>
            </a:pPr>
            <a:r>
              <a:rPr lang="fr-FR" sz="1700">
                <a:solidFill>
                  <a:srgbClr val="003781"/>
                </a:solidFill>
              </a:rPr>
              <a:t>Central</a:t>
            </a:r>
            <a:endParaRPr sz="1700">
              <a:solidFill>
                <a:srgbClr val="00378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3781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81"/>
              </a:buClr>
              <a:buSzPts val="1700"/>
              <a:buChar char="●"/>
            </a:pPr>
            <a:r>
              <a:rPr lang="fr-FR" sz="1700">
                <a:solidFill>
                  <a:srgbClr val="003781"/>
                </a:solidFill>
              </a:rPr>
              <a:t>Pessimiste</a:t>
            </a:r>
            <a:endParaRPr sz="1700">
              <a:solidFill>
                <a:srgbClr val="00378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cf1504f34_0_125"/>
          <p:cNvSpPr txBox="1"/>
          <p:nvPr>
            <p:ph type="title"/>
          </p:nvPr>
        </p:nvSpPr>
        <p:spPr>
          <a:xfrm>
            <a:off x="278400" y="174075"/>
            <a:ext cx="97419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6511"/>
              <a:buNone/>
            </a:pPr>
            <a:r>
              <a:rPr lang="fr-FR"/>
              <a:t>Projection CCF : </a:t>
            </a:r>
            <a:r>
              <a:rPr lang="fr-FR">
                <a:solidFill>
                  <a:srgbClr val="FF9900"/>
                </a:solidFill>
              </a:rPr>
              <a:t>résultats zoom segment 2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63" name="Google Shape;263;g35cf1504f34_0_125"/>
          <p:cNvSpPr txBox="1"/>
          <p:nvPr>
            <p:ph idx="12" type="sldNum"/>
          </p:nvPr>
        </p:nvSpPr>
        <p:spPr>
          <a:xfrm>
            <a:off x="11690370" y="6508944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64" name="Google Shape;264;g35cf1504f34_0_125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5cf1504f34_0_125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5cf1504f34_0_125"/>
          <p:cNvSpPr txBox="1"/>
          <p:nvPr>
            <p:ph idx="1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67" name="Google Shape;267;g35cf1504f34_0_125"/>
          <p:cNvSpPr txBox="1"/>
          <p:nvPr/>
        </p:nvSpPr>
        <p:spPr>
          <a:xfrm>
            <a:off x="7530900" y="344150"/>
            <a:ext cx="49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g35cf1504f34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688" y="3250700"/>
            <a:ext cx="6050910" cy="2493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5cf1504f34_0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1688" y="952298"/>
            <a:ext cx="5670881" cy="223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5cf1504f34_0_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278800"/>
            <a:ext cx="5835649" cy="230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5cf1504f34_0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95" y="919821"/>
            <a:ext cx="5835649" cy="2301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"/>
          <p:cNvSpPr txBox="1"/>
          <p:nvPr>
            <p:ph type="title"/>
          </p:nvPr>
        </p:nvSpPr>
        <p:spPr>
          <a:xfrm>
            <a:off x="457392" y="408722"/>
            <a:ext cx="10040527" cy="887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 Prochaines </a:t>
            </a:r>
            <a:r>
              <a:rPr lang="fr-FR">
                <a:solidFill>
                  <a:srgbClr val="FF9900"/>
                </a:solidFill>
              </a:rPr>
              <a:t>étapes et améliorations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A0D3"/>
              </a:buClr>
              <a:buSzPts val="3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7" name="Google Shape;277;p5"/>
          <p:cNvSpPr txBox="1"/>
          <p:nvPr>
            <p:ph idx="12" type="sldNum"/>
          </p:nvPr>
        </p:nvSpPr>
        <p:spPr>
          <a:xfrm>
            <a:off x="11443580" y="6372000"/>
            <a:ext cx="268995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78" name="Google Shape;278;p5"/>
          <p:cNvSpPr txBox="1"/>
          <p:nvPr/>
        </p:nvSpPr>
        <p:spPr>
          <a:xfrm>
            <a:off x="1586965" y="4768171"/>
            <a:ext cx="552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37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1479050" y="1855975"/>
            <a:ext cx="10103400" cy="1794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1412150" y="2365638"/>
            <a:ext cx="102372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Enrichir la base d’apprentissage avec d</a:t>
            </a:r>
            <a:r>
              <a:rPr lang="fr-FR" sz="2000">
                <a:solidFill>
                  <a:schemeClr val="dk1"/>
                </a:solidFill>
              </a:rPr>
              <a:t>’autres variables macr</a:t>
            </a:r>
            <a:r>
              <a:rPr lang="fr-FR" sz="2000">
                <a:solidFill>
                  <a:schemeClr val="dk1"/>
                </a:solidFill>
              </a:rPr>
              <a:t>o : year, quarter , post_covid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1469750" y="3943050"/>
            <a:ext cx="10103400" cy="1794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1469750" y="3943050"/>
            <a:ext cx="9184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fr-FR" sz="2000">
                <a:solidFill>
                  <a:schemeClr val="dk1"/>
                </a:solidFill>
              </a:rPr>
              <a:t>Ajouter la co intégration et un retour à la moyenne pour la projection (projection à maturité)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" y="2327900"/>
            <a:ext cx="922575" cy="29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5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 txBox="1"/>
          <p:nvPr>
            <p:ph idx="1" type="body"/>
          </p:nvPr>
        </p:nvSpPr>
        <p:spPr>
          <a:xfrm>
            <a:off x="8445924" y="579263"/>
            <a:ext cx="3527100" cy="54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</a:t>
            </a:r>
            <a:r>
              <a:rPr lang="fr-FR" sz="1600"/>
              <a:t>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df5e1f890_1_471"/>
          <p:cNvSpPr txBox="1"/>
          <p:nvPr>
            <p:ph type="title"/>
          </p:nvPr>
        </p:nvSpPr>
        <p:spPr>
          <a:xfrm>
            <a:off x="457392" y="408722"/>
            <a:ext cx="10040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 Prochaines </a:t>
            </a:r>
            <a:r>
              <a:rPr lang="fr-FR">
                <a:solidFill>
                  <a:srgbClr val="FF9900"/>
                </a:solidFill>
              </a:rPr>
              <a:t>étapes et améliorations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A0D3"/>
              </a:buClr>
              <a:buSzPts val="3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2" name="Google Shape;292;g35df5e1f890_1_471"/>
          <p:cNvSpPr txBox="1"/>
          <p:nvPr>
            <p:ph idx="12" type="sldNum"/>
          </p:nvPr>
        </p:nvSpPr>
        <p:spPr>
          <a:xfrm>
            <a:off x="11443580" y="6372000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93" name="Google Shape;293;g35df5e1f890_1_471"/>
          <p:cNvSpPr txBox="1"/>
          <p:nvPr/>
        </p:nvSpPr>
        <p:spPr>
          <a:xfrm>
            <a:off x="5802575" y="3592650"/>
            <a:ext cx="6460500" cy="17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                           OLS Regression Results                            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Dep. Variable:                   CCF2   R-squared:                       0.001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Model:                            OLS   Adj. R-squared:                 -0.017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Method:                 Least Squares   F-statistic:                   0.03275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Date:                Sat, 24 May 2025   Prob (F-statistic):              0.857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Time:                        03:33:02   Log-Likelihood:                 28.364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No. Observations:                  60   AIC:                            -52.73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Df Residuals:                      58   BIC:                            -48.54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Df Model:                           1                                         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Covariance Type:            nonrobust                                         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                 coef    std err          t      P&gt;|t|      [0.025      0.975]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------------------------------------------------------------------------------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const          0.5649      0.021     27.052      0.000       0.523       0.607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PIB            0.0014      0.008      0.181      0.857      -0.014       0.017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Omnibus:                        0.924   Durbin-Watson:                   0.358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Prob(Omnibus):                  0.630   Jarque-Bera (JB):                0.938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Skew:                           0.148   Prob(JB):                        0.626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Kurtosis:                       2.463   Cond. No.                         2.88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t/>
            </a:r>
            <a:endParaRPr sz="800"/>
          </a:p>
        </p:txBody>
      </p:sp>
      <p:sp>
        <p:nvSpPr>
          <p:cNvPr id="294" name="Google Shape;294;g35df5e1f890_1_471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5df5e1f890_1_471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5df5e1f890_1_471"/>
          <p:cNvSpPr txBox="1"/>
          <p:nvPr>
            <p:ph idx="1" type="body"/>
          </p:nvPr>
        </p:nvSpPr>
        <p:spPr>
          <a:xfrm>
            <a:off x="8445924" y="579263"/>
            <a:ext cx="3527100" cy="54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1600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97" name="Google Shape;297;g35df5e1f890_1_471"/>
          <p:cNvSpPr txBox="1"/>
          <p:nvPr/>
        </p:nvSpPr>
        <p:spPr>
          <a:xfrm>
            <a:off x="124175" y="943800"/>
            <a:ext cx="5678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🔎 Test de cointégration – Segment 2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📊 Test Johansen – Variables: ['Indicateur_moyen_Brut', 'PIB']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 - H0: ≤ 0 vecteurs — Trace Stat = 24.98 vs Crit 95% = 15.49 → ✅ Cointégration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 - H0: ≤ 1 vecteurs — Trace Stat = 3.45 vs Crit 95% = 3.84 → ❌ Pas de cointégration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📊 Test Johansen – Variables: ['Indicateur_moyen_Brut', 'Inflation']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 - H0: ≤ 0 vecteurs — Trace Stat = 9.12 vs Crit 95% = 15.49 → ❌ Pas de cointégration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latin typeface="Courier New"/>
                <a:ea typeface="Courier New"/>
                <a:cs typeface="Courier New"/>
                <a:sym typeface="Courier New"/>
              </a:rPr>
              <a:t> - H0: ≤ 1 vecteurs — Trace Stat = 3.35 vs Crit 95% = 3.84 → ❌ Pas de cointégration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98" name="Google Shape;298;g35df5e1f890_1_4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3702825"/>
            <a:ext cx="5678300" cy="31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cf1504f34_0_149"/>
          <p:cNvSpPr txBox="1"/>
          <p:nvPr>
            <p:ph type="title"/>
          </p:nvPr>
        </p:nvSpPr>
        <p:spPr>
          <a:xfrm>
            <a:off x="278400" y="174075"/>
            <a:ext cx="97419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Annexe : </a:t>
            </a:r>
            <a:r>
              <a:rPr lang="fr-FR">
                <a:solidFill>
                  <a:srgbClr val="FF9900"/>
                </a:solidFill>
              </a:rPr>
              <a:t>OLS VS RF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05" name="Google Shape;305;g35cf1504f34_0_149"/>
          <p:cNvSpPr txBox="1"/>
          <p:nvPr>
            <p:ph idx="12" type="sldNum"/>
          </p:nvPr>
        </p:nvSpPr>
        <p:spPr>
          <a:xfrm>
            <a:off x="11690370" y="6508944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06" name="Google Shape;306;g35cf1504f34_0_149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5cf1504f34_0_149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5cf1504f34_0_149"/>
          <p:cNvSpPr txBox="1"/>
          <p:nvPr>
            <p:ph idx="1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09" name="Google Shape;309;g35cf1504f34_0_149"/>
          <p:cNvSpPr txBox="1"/>
          <p:nvPr/>
        </p:nvSpPr>
        <p:spPr>
          <a:xfrm>
            <a:off x="7530900" y="344150"/>
            <a:ext cx="49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0" name="Google Shape;310;g35cf1504f34_0_149"/>
          <p:cNvGraphicFramePr/>
          <p:nvPr/>
        </p:nvGraphicFramePr>
        <p:xfrm>
          <a:off x="517325" y="203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{F0587725-6B6E-47DF-8DBA-BF5FD4FD8129}</a:tableStyleId>
              </a:tblPr>
              <a:tblGrid>
                <a:gridCol w="857275"/>
                <a:gridCol w="1073575"/>
                <a:gridCol w="1383850"/>
                <a:gridCol w="1200150"/>
                <a:gridCol w="3190875"/>
                <a:gridCol w="3409950"/>
              </a:tblGrid>
              <a:tr h="27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lt1"/>
                          </a:solidFill>
                        </a:rPr>
                        <a:t>Segment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lt1"/>
                          </a:solidFill>
                        </a:rPr>
                        <a:t>R²_RF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lt1"/>
                          </a:solidFill>
                        </a:rPr>
                        <a:t>R²_OLS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lt1"/>
                          </a:solidFill>
                        </a:rPr>
                        <a:t>Hypothèses non respectées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lt1"/>
                          </a:solidFill>
                        </a:rPr>
                        <a:t>Variables RF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lt1"/>
                          </a:solidFill>
                        </a:rPr>
                        <a:t>Variables OLS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dk1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1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0.906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0.312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DW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IPL_diff1_hp, year, IPL_diff1_hp_lag1,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year, PIB_x_TCH_ma3, PIB_ma5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2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0.882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0.286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Aucune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Inflation_diff1, PIB_lag1, I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PIB_lag2, Inflation_diff1_lag2, Inflation_x_IPL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3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0.853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0.172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Aucune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Inflation_diff1, IPL_diff1_hp, quarter,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PIB_x_TCH_ma3, Inflation_x_IPL,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4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0.903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0.630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Aucune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IPL_diff1_hp, year, PIB_lag2, TCH_diff1_lag2,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year, TCH_ma3, IPL_ma5, IPL_ma3, IPL_diff1_hp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5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0.881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0.259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DW, Shapiro, JB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year, Inflation_diff1_lag1, TCH_ma3, TCH_ma5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rgbClr val="3B3B3B"/>
                          </a:solidFill>
                        </a:rPr>
                        <a:t>year, TCH_ma5, TCH_ma3</a:t>
                      </a:r>
                      <a:endParaRPr sz="1200">
                        <a:solidFill>
                          <a:srgbClr val="3B3B3B"/>
                        </a:solidFill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cf1504f34_0_65"/>
          <p:cNvSpPr txBox="1"/>
          <p:nvPr>
            <p:ph type="title"/>
          </p:nvPr>
        </p:nvSpPr>
        <p:spPr>
          <a:xfrm>
            <a:off x="278400" y="174075"/>
            <a:ext cx="97419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6511"/>
              <a:buNone/>
            </a:pPr>
            <a:r>
              <a:rPr lang="fr-FR"/>
              <a:t>Annexe : résultats pour</a:t>
            </a:r>
            <a:r>
              <a:rPr lang="fr-FR">
                <a:solidFill>
                  <a:srgbClr val="FF9900"/>
                </a:solidFill>
              </a:rPr>
              <a:t> tous les segments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17" name="Google Shape;317;g35cf1504f34_0_65"/>
          <p:cNvSpPr txBox="1"/>
          <p:nvPr>
            <p:ph idx="12" type="sldNum"/>
          </p:nvPr>
        </p:nvSpPr>
        <p:spPr>
          <a:xfrm>
            <a:off x="11690370" y="6508944"/>
            <a:ext cx="269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18" name="Google Shape;318;g35cf1504f34_0_65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5cf1504f34_0_65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5cf1504f34_0_65"/>
          <p:cNvSpPr txBox="1"/>
          <p:nvPr>
            <p:ph idx="1" type="body"/>
          </p:nvPr>
        </p:nvSpPr>
        <p:spPr>
          <a:xfrm>
            <a:off x="8407524" y="344150"/>
            <a:ext cx="3527100" cy="54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/>
              <a:t>Risque de crédit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21" name="Google Shape;321;g35cf1504f34_0_65"/>
          <p:cNvSpPr txBox="1"/>
          <p:nvPr/>
        </p:nvSpPr>
        <p:spPr>
          <a:xfrm>
            <a:off x="7530900" y="344150"/>
            <a:ext cx="49788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2" name="Google Shape;322;g35cf1504f34_0_65"/>
          <p:cNvGraphicFramePr/>
          <p:nvPr/>
        </p:nvGraphicFramePr>
        <p:xfrm>
          <a:off x="278400" y="11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{F0587725-6B6E-47DF-8DBA-BF5FD4FD8129}</a:tableStyleId>
              </a:tblPr>
              <a:tblGrid>
                <a:gridCol w="1468025"/>
                <a:gridCol w="1314925"/>
                <a:gridCol w="864600"/>
                <a:gridCol w="882625"/>
                <a:gridCol w="882625"/>
                <a:gridCol w="711500"/>
                <a:gridCol w="819575"/>
                <a:gridCol w="819575"/>
                <a:gridCol w="891625"/>
                <a:gridCol w="819575"/>
                <a:gridCol w="20444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Segment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Modèle_retenu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R2_OLS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R2_Ridge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R2_Lasso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R2_RF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DW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BP_p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Shapiro_p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JB_p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Top_features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1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RF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0.362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0.330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0.346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0.892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1.121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0.320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0.248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0.472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IPL_diff1_hp_squared, TCH_x_IPL, PIB_squared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RF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0.364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0.362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0.253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0.886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1.959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0.836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0.864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0.895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PIB_lag2, PIB_ma5, PIB_ma3, TCH_diff1_lag2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3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RF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0.098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0.042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0.084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0.822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2.136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0.411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0.558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0.595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Inflation_diff1_squared PIB_x_Inflation,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RF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0.344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0.338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0.340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0.883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1.494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0.855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0.664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0.990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IPL_diff1_hp_squared, TCH_x_IPL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5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RF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0.160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0.154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0.156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0.844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1.254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0.975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0.000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0.000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/>
                        <a:t>PIB_squared, TCH_x_IPL, IPL_diff1_hp_squared</a:t>
                      </a:r>
                      <a:endParaRPr sz="145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df5e1f890_1_10"/>
          <p:cNvSpPr txBox="1"/>
          <p:nvPr>
            <p:ph type="ctrTitle"/>
          </p:nvPr>
        </p:nvSpPr>
        <p:spPr>
          <a:xfrm>
            <a:off x="478800" y="1836000"/>
            <a:ext cx="4680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571"/>
              <a:buNone/>
            </a:pPr>
            <a:r>
              <a:rPr lang="fr-FR"/>
              <a:t>Merci de votre attention ! 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29" name="Google Shape;329;g35df5e1f890_1_10"/>
          <p:cNvSpPr/>
          <p:nvPr/>
        </p:nvSpPr>
        <p:spPr>
          <a:xfrm>
            <a:off x="10489750" y="344150"/>
            <a:ext cx="1702200" cy="7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5df5e1f890_1_10"/>
          <p:cNvSpPr/>
          <p:nvPr/>
        </p:nvSpPr>
        <p:spPr>
          <a:xfrm>
            <a:off x="5590225" y="0"/>
            <a:ext cx="969900" cy="26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5df5e1f890_1_10"/>
          <p:cNvSpPr txBox="1"/>
          <p:nvPr>
            <p:ph idx="1" type="subTitle"/>
          </p:nvPr>
        </p:nvSpPr>
        <p:spPr>
          <a:xfrm>
            <a:off x="334800" y="492350"/>
            <a:ext cx="3265200" cy="5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30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30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30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3000"/>
              <a:t>Risque de crédit</a:t>
            </a:r>
            <a:endParaRPr sz="30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3000"/>
          </a:p>
        </p:txBody>
      </p:sp>
      <p:sp>
        <p:nvSpPr>
          <p:cNvPr id="332" name="Google Shape;332;g35df5e1f890_1_10"/>
          <p:cNvSpPr txBox="1"/>
          <p:nvPr/>
        </p:nvSpPr>
        <p:spPr>
          <a:xfrm>
            <a:off x="7530900" y="344150"/>
            <a:ext cx="49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g35df5e1f890_1_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000" r="25000" t="0"/>
          <a:stretch/>
        </p:blipFill>
        <p:spPr>
          <a:xfrm>
            <a:off x="5335200" y="2"/>
            <a:ext cx="6858000" cy="6858000"/>
          </a:xfrm>
          <a:prstGeom prst="rect">
            <a:avLst/>
          </a:prstGeom>
        </p:spPr>
      </p:pic>
      <p:sp>
        <p:nvSpPr>
          <p:cNvPr id="334" name="Google Shape;334;g35df5e1f890_1_10"/>
          <p:cNvSpPr txBox="1"/>
          <p:nvPr>
            <p:ph idx="5" type="body"/>
          </p:nvPr>
        </p:nvSpPr>
        <p:spPr>
          <a:xfrm rot="-5400000">
            <a:off x="11016000" y="5772158"/>
            <a:ext cx="1281600" cy="14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2023-01-23T09:37:10Z</dcterms:created>
  <dc:creator>HAMIDOUCHE, Zacky (Allianz en France)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0x01010084C8454A4996B14EB48175AA8B23133F</vt:lpwstr>
  </property>
  <property fmtid="{D5CDD505-2E9C-101B-9397-08002B2CF9AE}" pid="3" name="Order">
    <vt:r8>1482800.0</vt:r8>
  </property>
  <property fmtid="{D5CDD505-2E9C-101B-9397-08002B2CF9AE}" pid="4" name="MediaServiceImageTags">
    <vt:lpwstr/>
  </property>
  <property fmtid="{D5CDD505-2E9C-101B-9397-08002B2CF9AE}" pid="5" name="MSIP_Label_863bc15e-e7bf-41c1-bdb3-03882d8a2e2c_Enabled">
    <vt:lpwstr>true</vt:lpwstr>
  </property>
  <property fmtid="{D5CDD505-2E9C-101B-9397-08002B2CF9AE}" pid="6" name="MSIP_Label_863bc15e-e7bf-41c1-bdb3-03882d8a2e2c_SetDate">
    <vt:lpwstr>2023-05-23T16:20:34Z</vt:lpwstr>
  </property>
  <property fmtid="{D5CDD505-2E9C-101B-9397-08002B2CF9AE}" pid="7" name="MSIP_Label_863bc15e-e7bf-41c1-bdb3-03882d8a2e2c_Method">
    <vt:lpwstr>Privileged</vt:lpwstr>
  </property>
  <property fmtid="{D5CDD505-2E9C-101B-9397-08002B2CF9AE}" pid="8" name="MSIP_Label_863bc15e-e7bf-41c1-bdb3-03882d8a2e2c_Name">
    <vt:lpwstr>863bc15e-e7bf-41c1-bdb3-03882d8a2e2c</vt:lpwstr>
  </property>
  <property fmtid="{D5CDD505-2E9C-101B-9397-08002B2CF9AE}" pid="9" name="MSIP_Label_863bc15e-e7bf-41c1-bdb3-03882d8a2e2c_SiteId">
    <vt:lpwstr>6e06e42d-6925-47c6-b9e7-9581c7ca302a</vt:lpwstr>
  </property>
  <property fmtid="{D5CDD505-2E9C-101B-9397-08002B2CF9AE}" pid="10" name="MSIP_Label_863bc15e-e7bf-41c1-bdb3-03882d8a2e2c_ActionId">
    <vt:lpwstr>fedf9ade-2aae-4e34-9246-c5444700e79c</vt:lpwstr>
  </property>
  <property fmtid="{D5CDD505-2E9C-101B-9397-08002B2CF9AE}" pid="11" name="MSIP_Label_863bc15e-e7bf-41c1-bdb3-03882d8a2e2c_ContentBits">
    <vt:lpwstr>1</vt:lpwstr>
  </property>
</Properties>
</file>